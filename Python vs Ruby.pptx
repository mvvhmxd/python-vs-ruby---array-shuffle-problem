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AF66DC-01B5-4CFB-AA2D-E6FE8F9D8631}">
  <a:tblStyle styleId="{11AF66DC-01B5-4CFB-AA2D-E6FE8F9D86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32.jp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00" y="100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07075" y="1060525"/>
            <a:ext cx="222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6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vs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36486" y="2341364"/>
            <a:ext cx="4719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Python vs Ruby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571875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67237" y="4314825"/>
            <a:ext cx="30575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ARRAY SHUFFLE PROBLEM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48162" y="5271045"/>
            <a:ext cx="349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CSE 451: Concepts of Programming Languages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625" y="1141214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1575" y="121741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9725"/>
            <a:ext cx="522922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9725"/>
            <a:ext cx="522922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378523"/>
            <a:ext cx="44672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933676"/>
            <a:ext cx="44672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62025" y="2822376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498651"/>
            <a:ext cx="4467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Given a string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an integer array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indices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of the same length.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0" y="2377529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62750" y="3053804"/>
            <a:ext cx="4467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Shuffle string so character at position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moves to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indices[i]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0" y="4514701"/>
            <a:ext cx="4467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'a' (idx 0) → idx 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'r' (idx 1) → idx 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't' (idx 2) → idx 2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50951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2406104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05089"/>
            <a:ext cx="4943475" cy="5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 Step-by-Step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47625" cy="11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66775" y="2740521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Initialize: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Create an empty result array of size </a:t>
            </a:r>
            <a:r>
              <a:rPr b="0" i="1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3218557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Iterate: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Loop through the input string with index </a:t>
            </a:r>
            <a:r>
              <a:rPr b="0" i="1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696592"/>
            <a:ext cx="465772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Place: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Assign result[indices[i]] = s[i].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4184153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Join: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Convert the result array back into a string.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52475" y="5147964"/>
            <a:ext cx="4629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Complexity: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O(N)</a:t>
            </a:r>
            <a:r>
              <a:rPr b="0" i="0" lang="en-US" sz="13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Time |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O(N)</a:t>
            </a:r>
            <a:r>
              <a:rPr b="0" i="0" lang="en-US" sz="13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Space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2740521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81025" y="3218557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369659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4184153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240922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"Batteries Included" Language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15170"/>
            <a:ext cx="5210175" cy="3256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66775" y="2885479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Created: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1991 by Guido van Rossum.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3363515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Philosophy: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"There should be one-- and preferably only one --obvious way to do it."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4176712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Key Traits: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Dynamic typing, huge ecosystem (pip), explicit syntax.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4989909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AI/ML, Data Science, Web (Django), Scripting.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2885479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336351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417671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81025" y="4989909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2969121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 Features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445371"/>
            <a:ext cx="494347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enumerate(s)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gives us both index and character.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932932"/>
            <a:ext cx="494347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List initialization: [''] * len(s) is idiomatic.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4420492"/>
            <a:ext cx="494347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''.join()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is the standard way to build strings.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81775" y="2957512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000875" y="2957512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shuffle_string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000875" y="3176587"/>
            <a:ext cx="3038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Create empty list of size 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048625" y="339566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77275" y="3395662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000875" y="3833812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258175" y="383381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2500" y="3833812"/>
            <a:ext cx="942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enumerate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419975" y="4052887"/>
            <a:ext cx="3562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Map current char to target index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000875" y="471011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734300" y="471011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48625" y="471011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3445371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81025" y="393293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442049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 Implementation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81025" y="257681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"Developer Happiness"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77541"/>
            <a:ext cx="5210175" cy="29316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866775" y="3053060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Created: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1995 by Yukihiro "Matz" Matsumoto.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66775" y="3531096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Philosophy: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"Optimize for programmer happiness."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66775" y="4009132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Key Traits: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Pure OOP (everything is an object), flexible syntax (TIMTOWTDI), blocks.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4822328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Web Dev (Ruby on Rails), DevOps (Puppet/Chef).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81025" y="305306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81025" y="3531096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81025" y="400913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81025" y="4822328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Ruby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81025" y="256252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 Features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66775" y="3038772"/>
            <a:ext cx="494347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Array.new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creates the structure.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66775" y="3526333"/>
            <a:ext cx="4943475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each_char.with_index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chains enumerators elegantly.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66775" y="4013894"/>
            <a:ext cx="4943475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Block Syntax: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do |char, i| ... end is central to Ruby.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4836616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Implicit return (last line returns).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81775" y="2628900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000875" y="2628900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shuffle_string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791325" y="2847975"/>
            <a:ext cx="335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Initialize array with defaults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734300" y="3067050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362950" y="3067050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829800" y="3067050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791325" y="3505200"/>
            <a:ext cx="2095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Iterate with index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201150" y="3724275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791325" y="41624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791325" y="4600575"/>
            <a:ext cx="178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Implicit return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581775" y="50387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81025" y="303877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81025" y="3526333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581025" y="4013894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81025" y="4836616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Ruby Implementation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20"/>
          <p:cNvGraphicFramePr/>
          <p:nvPr/>
        </p:nvGraphicFramePr>
        <p:xfrm>
          <a:off x="581025" y="2017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{11AF66DC-01B5-4CFB-AA2D-E6FE8F9D8631}</a:tableStyleId>
              </a:tblPr>
              <a:tblGrid>
                <a:gridCol w="2506700"/>
                <a:gridCol w="4261550"/>
                <a:gridCol w="4261700"/>
              </a:tblGrid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Python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F444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Ruby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Dynamic, Strong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Dynamic, Duck Typing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Array Init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[''] * len(s)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Array.new(n, '')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enumerate(s)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s.each_char.with_index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 Syntax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Indentation (whitespace)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do/end or { 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String Join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''.join(list)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array.join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0"/>
          <p:cNvSpPr/>
          <p:nvPr/>
        </p:nvSpPr>
        <p:spPr>
          <a:xfrm>
            <a:off x="581025" y="2659558"/>
            <a:ext cx="250671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087737" y="2659558"/>
            <a:ext cx="426154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349281" y="2659558"/>
            <a:ext cx="426169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81025" y="3304282"/>
            <a:ext cx="25067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087737" y="3304282"/>
            <a:ext cx="4261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349281" y="3304282"/>
            <a:ext cx="42616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81025" y="3944242"/>
            <a:ext cx="25067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087737" y="3944242"/>
            <a:ext cx="4261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349281" y="3944242"/>
            <a:ext cx="42616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81025" y="4584203"/>
            <a:ext cx="25067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087737" y="4584203"/>
            <a:ext cx="4261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349281" y="4584203"/>
            <a:ext cx="42616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81025" y="5224164"/>
            <a:ext cx="25067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087737" y="5224164"/>
            <a:ext cx="4261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349281" y="5224164"/>
            <a:ext cx="42616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2612" y="22176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3181" y="22176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Feature Comparison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0040"/>
            <a:ext cx="3486150" cy="342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30040"/>
            <a:ext cx="3486150" cy="342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30040"/>
            <a:ext cx="3486150" cy="342661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803910" y="3268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Environment Setup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76300" y="3801665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Installing Ruby on Windows required the RubyInstaller and DevKit configuration to manage native extensions.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575810" y="3268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Syntax Curve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4648200" y="3801665"/>
            <a:ext cx="2895600" cy="1350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Adapting to Ruby's block syntax and method chaining (e.g., .with_index) was a shift from Python's direct style.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347710" y="3268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Verification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420100" y="3801665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Ensuring both implementations produced identical output for edge cases (empty strings, single characters).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5634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56341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5634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Challenges &amp; Learnings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7325" y="2042525"/>
            <a:ext cx="6704675" cy="382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450294" y="1753641"/>
            <a:ext cx="549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Try the </a:t>
            </a:r>
            <a:r>
              <a:rPr b="1" lang="en-US" sz="27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App Yourself !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81025" y="2372766"/>
            <a:ext cx="5229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Scan to see the algorithm in action.</a:t>
            </a:r>
            <a:endParaRPr/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5">
            <a:alphaModFix/>
          </a:blip>
          <a:srcRect b="0" l="0" r="-4887" t="0"/>
          <a:stretch/>
        </p:blipFill>
        <p:spPr>
          <a:xfrm>
            <a:off x="2171700" y="3107977"/>
            <a:ext cx="20478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81025" y="5736877"/>
            <a:ext cx="522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https://mvvhmxd.github.io/Python-vs-Ruby</a:t>
            </a:r>
            <a:endParaRPr b="1" i="1" sz="1800"/>
          </a:p>
        </p:txBody>
      </p:sp>
      <p:pic>
        <p:nvPicPr>
          <p:cNvPr descr="image.png" id="271" name="Google Shape;2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8175" y="3852862"/>
            <a:ext cx="14763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title="qrcode.jpg"/>
          <p:cNvPicPr preferRelativeResize="0"/>
          <p:nvPr/>
        </p:nvPicPr>
        <p:blipFill rotWithShape="1">
          <a:blip r:embed="rId7">
            <a:alphaModFix/>
          </a:blip>
          <a:srcRect b="0" l="6247" r="6256" t="0"/>
          <a:stretch/>
        </p:blipFill>
        <p:spPr>
          <a:xfrm>
            <a:off x="2362200" y="3298477"/>
            <a:ext cx="1666875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771525" y="533400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Demo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81025" y="5334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2"/>
          <p:cNvPicPr preferRelativeResize="0"/>
          <p:nvPr/>
        </p:nvPicPr>
        <p:blipFill rotWithShape="1">
          <a:blip r:embed="rId8">
            <a:alphaModFix/>
          </a:blip>
          <a:srcRect b="-30327" l="-88703" r="-2757" t="-61133"/>
          <a:stretch/>
        </p:blipFill>
        <p:spPr>
          <a:xfrm>
            <a:off x="-39050" y="10391"/>
            <a:ext cx="12192000" cy="683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305276" y="1586954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381625" y="3792884"/>
            <a:ext cx="142875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305276" y="4192934"/>
            <a:ext cx="115814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81025" y="4726334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Thank you for listening.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286000" y="2558504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"Understanding the </a:t>
            </a: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concepts</a:t>
            </a: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(arrays, indices, complexity) matters more than the </a:t>
            </a: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syntax</a:t>
            </a: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581025" y="218048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81025" y="316334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81025" y="394811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581025" y="2181433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581025" y="31538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81025" y="31538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581025" y="3164294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581025" y="39385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81025" y="39385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581025" y="394906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581025" y="47233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581025" y="47233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581025" y="473383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descr="image.png" id="304" name="Google Shape;3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90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1676400" y="232335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https://img.freepik.com/premium-vector/set-abstract-colorful-spheres-from-points-lines-dark-background-network-connection-structure-big-data-visualization-vector-illustration_634443-1804.jpg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676400" y="276716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307" name="Google Shape;3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127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/>
          <p:nvPr/>
        </p:nvSpPr>
        <p:spPr>
          <a:xfrm>
            <a:off x="1676400" y="330621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https://4kwallpapers.com/images/wallpapers/python-logo-dark-2880x1800-16094.png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1676400" y="355193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4kwallpapers.com</a:t>
            </a:r>
            <a:endParaRPr/>
          </a:p>
        </p:txBody>
      </p:sp>
      <p:pic>
        <p:nvPicPr>
          <p:cNvPr descr="image.png" id="310" name="Google Shape;31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975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1676400" y="409098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https://i.ytimg.com/vi/vXV6Ahqw0Sk/hq720.jpg?sqp=-oaymwEhCK4FEIIDSFryq4qpAxMIARUAAAAAGAElAADIQj0AgKJD&amp;rs=AOn4CLCYT3rxW-go1QJhrdcJ36MFtfaaLA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1676400" y="433670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www.youtube.com</a:t>
            </a:r>
            <a:endParaRPr/>
          </a:p>
        </p:txBody>
      </p:sp>
      <p:pic>
        <p:nvPicPr>
          <p:cNvPr descr="image.png" id="313" name="Google Shape;31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814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1676400" y="487575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https://res.cloudinary.com/practicaldev/image/fetch/s--rUTLfE4---/c_limit%2Cf_auto%2Cfl_progressive%2Cq_auto%2Cw_880/https://dev-to-uploads.s3.amazonaws.com/i/jrxbe5fpuuk6mgchng1m.png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1676400" y="531956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dev.to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